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 band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Engineering</c:v>
                  </c:pt>
                  <c:pt idx="1">
                    <c:v>G&amp;A</c:v>
                  </c:pt>
                  <c:pt idx="2">
                    <c:v>Sales</c:v>
                  </c:pt>
                  <c:pt idx="3">
                    <c:v>Marketing</c:v>
                  </c:pt>
                  <c:pt idx="4">
                    <c:v>Content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93.3</c:v>
                </c:pt>
                <c:pt idx="2">
                  <c:v>100</c:v>
                </c:pt>
                <c:pt idx="3">
                  <c:v>80</c:v>
                </c:pt>
                <c:pt idx="4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Above band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Engineering</c:v>
                  </c:pt>
                  <c:pt idx="1">
                    <c:v>G&amp;A</c:v>
                  </c:pt>
                  <c:pt idx="2">
                    <c:v>Sales</c:v>
                  </c:pt>
                  <c:pt idx="3">
                    <c:v>Marketing</c:v>
                  </c:pt>
                  <c:pt idx="4">
                    <c:v>Content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20</c:v>
                </c:pt>
                <c:pt idx="4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Below band</c:v>
                </c:pt>
              </c:strCache>
            </c:strRef>
          </c:tx>
          <c:spPr>
            <a:solidFill>
              <a:srgbClr val="B91C1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Engineering</c:v>
                  </c:pt>
                  <c:pt idx="1">
                    <c:v>G&amp;A</c:v>
                  </c:pt>
                  <c:pt idx="2">
                    <c:v>Sales</c:v>
                  </c:pt>
                  <c:pt idx="3">
                    <c:v>Marketing</c:v>
                  </c:pt>
                  <c:pt idx="4">
                    <c:v>Content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</c:v>
                </c:pt>
                <c:pt idx="1">
                  <c:v>6.7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66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A4664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74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 REVIEW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77240" y="237744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LuminaUS — November 2026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Compa-ratio analysis against internal bands and external market benchmarks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2026-11-30      </a:t>
            </a:r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reviewed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      </a:t>
            </a:r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— pending review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— HR &amp; CONTROLLER ONLY · Do not distribute without HR approval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0" y="23774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— HR &amp; CONTROLLER ONLY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103120" cy="150876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82296" cy="1508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258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74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621792" y="21396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band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" y="24140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96.1% of roster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88920" y="1234440"/>
            <a:ext cx="2103120" cy="150876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88920" y="1234440"/>
            <a:ext cx="82296" cy="15087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0" y="13258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5000" dirty="0"/>
          </a:p>
        </p:txBody>
      </p:sp>
      <p:sp>
        <p:nvSpPr>
          <p:cNvPr id="12" name="Text 10"/>
          <p:cNvSpPr/>
          <p:nvPr/>
        </p:nvSpPr>
        <p:spPr>
          <a:xfrm>
            <a:off x="2953512" y="21396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band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53512" y="24140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L3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20640" y="1234440"/>
            <a:ext cx="2103120" cy="150876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120640" y="1234440"/>
            <a:ext cx="82296" cy="150876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6" name="Text 14"/>
          <p:cNvSpPr/>
          <p:nvPr/>
        </p:nvSpPr>
        <p:spPr>
          <a:xfrm>
            <a:off x="5257800" y="13258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5000" dirty="0"/>
          </a:p>
        </p:txBody>
      </p:sp>
      <p:sp>
        <p:nvSpPr>
          <p:cNvPr id="17" name="Text 15"/>
          <p:cNvSpPr/>
          <p:nvPr/>
        </p:nvSpPr>
        <p:spPr>
          <a:xfrm>
            <a:off x="5285232" y="21396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band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85232" y="24140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G&amp;A L2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589520" y="1234440"/>
            <a:ext cx="4114800" cy="150876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0" y="132588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5000" dirty="0"/>
          </a:p>
        </p:txBody>
      </p:sp>
      <p:sp>
        <p:nvSpPr>
          <p:cNvPr id="21" name="Text 19"/>
          <p:cNvSpPr/>
          <p:nvPr/>
        </p:nvSpPr>
        <p:spPr>
          <a:xfrm>
            <a:off x="8869680" y="141732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flags triggered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employee above market P75 +15%; none below market P25 −10%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 requiring action this cycle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74720"/>
          <a:ext cx="112471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920240"/>
                <a:gridCol w="3291840"/>
                <a:gridCol w="2103120"/>
                <a:gridCol w="2103120"/>
                <a:gridCol w="128016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/ 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compa-ratio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L3 · Marketing Manager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Above band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G&amp;A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· Finance / HR Analyst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Below band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· Software Engineer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6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Attrition signal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457200" y="58064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band coverage gap (Sales L2 SDR) is tracked as an open item, not a formal exception.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LuminaUS · Compensation Review · 2026-11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Compa-ratio distribution by department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0" y="23774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— HR &amp; CONTROLLER ONLY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34440"/>
          <a:ext cx="69494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234440"/>
            <a:ext cx="4023360" cy="457200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0956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detail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09560" y="1783080"/>
          <a:ext cx="35661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57200"/>
                <a:gridCol w="548640"/>
                <a:gridCol w="640080"/>
                <a:gridCol w="5486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G&amp;A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7909560" y="4617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spread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909560" y="4892040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3A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carries the only above-band cluster — small department, so two cases = 20%.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100% treats the L2 SDR as in-band per source data; on the AE band it would compute below.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LuminaUS · Compensation Review · 2026-11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Above band  </a:t>
            </a:r>
            <a:pPr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Marketing L3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0" y="23774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— HR &amp; CONTROLLER ONLY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383280" cy="137160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82296" cy="13716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1.20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58368" y="2157984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compa-ratio · 2 employees · range 1.17–1.22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3383280" cy="137160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788920"/>
            <a:ext cx="82296" cy="13716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0779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+4.5–8.4%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58368" y="3566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market P75 — elevated, but under the 15% overpay flag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206240" y="1280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206240" y="1627632"/>
            <a:ext cx="7498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L3 Marketing Manager employees sit above the 1.15 threshold — roughly 17% and 22% above the band midpoint. Both were 2024 hires and are flagged above-band in the source roster.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band midpoint itself is ~4.5% above market P50, so above-band here also means above market — though within a defensible range for retained talent.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L3 cohort averages 1.14 and clusters near the ceiling, suggesting the band may need a refresh independent of these two cases.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617720"/>
            <a:ext cx="11247120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7548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5074920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rationale for both above-band placements; if absent, initiate comp-review conversations with hiring managers.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a Marketing L3 band refresh for the Q1 2027 cycle. Owner: HR + FP&amp;A. Requires HR sign-off and Controller approval.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LuminaUS · Compensation Review · 2026-11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Below band  </a:t>
            </a:r>
            <a:pPr indent="0" marL="0">
              <a:buNone/>
            </a:pPr>
            <a:r>
              <a:rPr lang="en-US" sz="30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G&amp;A L2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0" y="23774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— HR &amp; CONTROLLER ONLY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383280" cy="137160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82296" cy="13716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0.82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58368" y="2157984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Compa-ratio · 1 employee · ~18% below midpoint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3383280" cy="137160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788920"/>
            <a:ext cx="82296" cy="13716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0779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P25–P50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58368" y="35661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position: above P25 but below median. No formal market flag triggered.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206240" y="1280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206240" y="1627632"/>
            <a:ext cx="7498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formally below-band employee in the roster, ~18% under midpoint. Lumina's G&amp;A L2 midpoint sits ~9% above market P50, so below-band also lands below market median despite a conservative band.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prior G&amp;A L2 analyst departed in September and was replaced by this employee — placed well below midpoint, reproducing the churn conditions.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Watch: a second G&amp;A L2 employee sits at 0.89 — in band, but near the floor. Review the two together.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617720"/>
            <a:ext cx="11247120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7548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5074920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comp against performance and tenure; assess a band catch-up adjustment.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the near-floor employee to prevent a second below-band outlier. Owner: HR + Controller. Requires HR sign-off and Controller approval.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LuminaUS · Compensation Review · 2026-11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Attrition signal  </a:t>
            </a:r>
            <a:pPr indent="0" marL="0">
              <a:buNone/>
            </a:pPr>
            <a:r>
              <a:rPr lang="en-US" sz="3000" b="1" dirty="0">
                <a:solidFill>
                  <a:srgbClr val="3A4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Engineering L2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0" y="23774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— HR &amp; CONTROLLER ONLY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394960" cy="265176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82296" cy="2651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1732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~20%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713232" y="242316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increase the departing engineer left for — a package that would exceed the L2 band maximum and sit ~10% above market P75.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0" y="1280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17920" y="1627632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October departure cited compensation directly. The current L2 roster is healthy — compa-ratios cluster tightly at 0.98–1.03, none above band.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if competing offers for top performers now exceed the band ceiling, retention pressure persists even when everyone reads as in-band. The midpoint looks well-calibrated; the ceiling may not be.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other comp-linked departures across the trailing three months.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160520"/>
            <a:ext cx="11247120" cy="1783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431596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4645152"/>
            <a:ext cx="10789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+ FP&amp;A to assess whether the Engineering L2 band maximum is competitive for top-of-band performers.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broad band refresh — the midpoint is sound. Target the ceiling. Timing: Q1 2027 cycle.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monitoring; no immediate roster-wide action required.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LuminaUS · Compensation Review · 2026-11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actions &amp; open items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0" y="23774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— HR &amp; CONTROLLER ONLY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828800"/>
                <a:gridCol w="5852160"/>
                <a:gridCol w="219456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 L3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above-band rationale; review band refresh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+ FP&amp;A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G&amp;A L2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below-band comp; assess catch-up adjustment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+ Controller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A46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G&amp;A L2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 near-floor employee (CR 0.89)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A46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 L2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 band maximum vs. top-performer market offers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+ FP&amp;A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977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items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4434840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434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O-1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05840" y="4416552"/>
            <a:ext cx="10515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L2 SDR mapped to AE band — confirm or create a separate SDR band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5001768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50017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O-2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05840" y="4983480"/>
            <a:ext cx="10515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backfills (2 reqs) — set incoming offers at or above midpoint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57200" y="5568696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55686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O-3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05840" y="5550408"/>
            <a:ext cx="10515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L3 title inconsistency — above-band employees carry the junior title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57200" y="61722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proposed adjustments require HR sign-off and Controller approval before actioning. No individual comp changes are authorized by this deck.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LuminaUS · Compensation Review · 2026-11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LuminaUS Compensation Review — November 2026</dc:title>
  <dc:subject>PptxGenJS Presentation</dc:subject>
  <dc:creator>Compensation Analysis Agent</dc:creator>
  <cp:lastModifiedBy>Compensation Analysis Agent</cp:lastModifiedBy>
  <cp:revision>1</cp:revision>
  <dcterms:created xsi:type="dcterms:W3CDTF">2026-05-28T18:10:06Z</dcterms:created>
  <dcterms:modified xsi:type="dcterms:W3CDTF">2026-05-28T18:10:06Z</dcterms:modified>
</cp:coreProperties>
</file>